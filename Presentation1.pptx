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"/>
  </p:notesMasterIdLst>
  <p:sldIdLst>
    <p:sldId id="256" r:id="rId2"/>
    <p:sldId id="257" r:id="rId3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2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646"/>
  </p:normalViewPr>
  <p:slideViewPr>
    <p:cSldViewPr snapToGrid="0" snapToObjects="1">
      <p:cViewPr>
        <p:scale>
          <a:sx n="95" d="100"/>
          <a:sy n="95" d="100"/>
        </p:scale>
        <p:origin x="1488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928E39-6A19-CA49-94AE-BF0C46BEF555}" type="datetimeFigureOut">
              <a:rPr lang="en-AU" smtClean="0"/>
              <a:t>7/2/18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943FB2-DA11-6D4D-8967-40BFCFC43A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986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Revolver</a:t>
            </a:r>
            <a:r>
              <a:rPr lang="zh-TW" altLang="en-US" baseline="0" dirty="0" smtClean="0"/>
              <a:t> </a:t>
            </a:r>
            <a:r>
              <a:rPr lang="en-US" altLang="zh-TW" baseline="0" dirty="0" smtClean="0"/>
              <a:t>only</a:t>
            </a:r>
            <a:r>
              <a:rPr lang="zh-TW" altLang="en-US" dirty="0" smtClean="0"/>
              <a:t> </a:t>
            </a:r>
            <a:r>
              <a:rPr lang="en-US" altLang="zh-TW" dirty="0" smtClean="0"/>
              <a:t>appears</a:t>
            </a:r>
            <a:r>
              <a:rPr lang="zh-TW" altLang="en-US" dirty="0" smtClean="0"/>
              <a:t> </a:t>
            </a:r>
            <a:r>
              <a:rPr lang="en-US" altLang="zh-TW" dirty="0" smtClean="0"/>
              <a:t>in</a:t>
            </a:r>
            <a:r>
              <a:rPr lang="zh-TW" altLang="en-US" baseline="0" dirty="0" smtClean="0"/>
              <a:t> </a:t>
            </a:r>
            <a:r>
              <a:rPr lang="en-US" altLang="zh-TW" dirty="0" smtClean="0"/>
              <a:t>HL</a:t>
            </a:r>
            <a:r>
              <a:rPr lang="zh-TW" altLang="en-US" baseline="0" dirty="0" smtClean="0"/>
              <a:t> </a:t>
            </a:r>
            <a:r>
              <a:rPr lang="en-US" altLang="zh-TW" baseline="0" dirty="0" smtClean="0"/>
              <a:t>Summary.</a:t>
            </a:r>
            <a:r>
              <a:rPr lang="zh-TW" altLang="en-US" baseline="0" dirty="0" smtClean="0"/>
              <a:t> </a:t>
            </a:r>
            <a:r>
              <a:rPr lang="en-US" altLang="zh-TW" baseline="0" dirty="0" smtClean="0"/>
              <a:t>D424</a:t>
            </a:r>
            <a:r>
              <a:rPr lang="zh-TW" altLang="en-US" baseline="0" dirty="0" smtClean="0"/>
              <a:t> </a:t>
            </a:r>
            <a:r>
              <a:rPr lang="en-US" altLang="zh-TW" baseline="0" dirty="0" smtClean="0"/>
              <a:t>only</a:t>
            </a:r>
            <a:r>
              <a:rPr lang="zh-TW" altLang="en-US" baseline="0" dirty="0" smtClean="0"/>
              <a:t> </a:t>
            </a:r>
            <a:r>
              <a:rPr lang="en-US" altLang="zh-TW" baseline="0" dirty="0" smtClean="0"/>
              <a:t>specify</a:t>
            </a:r>
            <a:r>
              <a:rPr lang="zh-TW" altLang="en-US" baseline="0" dirty="0" smtClean="0"/>
              <a:t> </a:t>
            </a:r>
            <a:r>
              <a:rPr lang="en-US" altLang="zh-TW" baseline="0" dirty="0" smtClean="0"/>
              <a:t>definition</a:t>
            </a:r>
            <a:r>
              <a:rPr lang="zh-TW" altLang="en-US" baseline="0" dirty="0" smtClean="0"/>
              <a:t> </a:t>
            </a:r>
            <a:r>
              <a:rPr lang="en-US" altLang="zh-TW" baseline="0" dirty="0" smtClean="0"/>
              <a:t>of</a:t>
            </a:r>
            <a:r>
              <a:rPr lang="zh-TW" altLang="en-US" baseline="0" dirty="0" smtClean="0"/>
              <a:t> </a:t>
            </a:r>
            <a:r>
              <a:rPr lang="en-US" altLang="zh-TW" baseline="0" dirty="0" err="1" smtClean="0"/>
              <a:t>transactors</a:t>
            </a:r>
            <a:r>
              <a:rPr lang="en-US" altLang="zh-TW" baseline="0" dirty="0" smtClean="0"/>
              <a:t>.</a:t>
            </a:r>
            <a:r>
              <a:rPr lang="zh-TW" altLang="en-US" baseline="0" dirty="0" smtClean="0"/>
              <a:t>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943FB2-DA11-6D4D-8967-40BFCFC43A9F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27658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TW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DC33-9F2B-4142-AFD1-0241339AB105}" type="datetimeFigureOut">
              <a:rPr lang="en-AU" smtClean="0"/>
              <a:t>6/2/18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77600-C47D-4848-A40E-CD19E406F2CE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DC33-9F2B-4142-AFD1-0241339AB105}" type="datetimeFigureOut">
              <a:rPr lang="en-AU" smtClean="0"/>
              <a:t>6/2/18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77600-C47D-4848-A40E-CD19E406F2CE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TW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DC33-9F2B-4142-AFD1-0241339AB105}" type="datetimeFigureOut">
              <a:rPr lang="en-AU" smtClean="0"/>
              <a:t>6/2/18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77600-C47D-4848-A40E-CD19E406F2CE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DC33-9F2B-4142-AFD1-0241339AB105}" type="datetimeFigureOut">
              <a:rPr lang="en-AU" smtClean="0"/>
              <a:t>6/2/18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77600-C47D-4848-A40E-CD19E406F2CE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altLang="zh-TW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DC33-9F2B-4142-AFD1-0241339AB105}" type="datetimeFigureOut">
              <a:rPr lang="en-AU" smtClean="0"/>
              <a:t>6/2/18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77600-C47D-4848-A40E-CD19E406F2CE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DC33-9F2B-4142-AFD1-0241339AB105}" type="datetimeFigureOut">
              <a:rPr lang="en-AU" smtClean="0"/>
              <a:t>6/2/18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77600-C47D-4848-A40E-CD19E406F2CE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DC33-9F2B-4142-AFD1-0241339AB105}" type="datetimeFigureOut">
              <a:rPr lang="en-AU" smtClean="0"/>
              <a:t>6/2/18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77600-C47D-4848-A40E-CD19E406F2CE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DC33-9F2B-4142-AFD1-0241339AB105}" type="datetimeFigureOut">
              <a:rPr lang="en-AU" smtClean="0"/>
              <a:t>6/2/18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77600-C47D-4848-A40E-CD19E406F2CE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TW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DC33-9F2B-4142-AFD1-0241339AB105}" type="datetimeFigureOut">
              <a:rPr lang="en-AU" smtClean="0"/>
              <a:t>6/2/18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77600-C47D-4848-A40E-CD19E406F2CE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DC33-9F2B-4142-AFD1-0241339AB105}" type="datetimeFigureOut">
              <a:rPr lang="en-AU" smtClean="0"/>
              <a:t>6/2/18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77600-C47D-4848-A40E-CD19E406F2CE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altLang="zh-TW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DC33-9F2B-4142-AFD1-0241339AB105}" type="datetimeFigureOut">
              <a:rPr lang="en-AU" smtClean="0"/>
              <a:t>6/2/18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77600-C47D-4848-A40E-CD19E406F2CE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75DC33-9F2B-4142-AFD1-0241339AB105}" type="datetimeFigureOut">
              <a:rPr lang="en-AU" smtClean="0"/>
              <a:t>6/2/18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D77600-C47D-4848-A40E-CD19E406F2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9135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tif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ounded Rectangle 53"/>
          <p:cNvSpPr/>
          <p:nvPr/>
        </p:nvSpPr>
        <p:spPr>
          <a:xfrm>
            <a:off x="1209032" y="2736150"/>
            <a:ext cx="7162800" cy="3274456"/>
          </a:xfrm>
          <a:prstGeom prst="roundRect">
            <a:avLst/>
          </a:prstGeom>
          <a:solidFill>
            <a:srgbClr val="FFF2CC">
              <a:alpha val="37255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2" name="TextBox 41"/>
          <p:cNvSpPr txBox="1"/>
          <p:nvPr/>
        </p:nvSpPr>
        <p:spPr>
          <a:xfrm>
            <a:off x="445655" y="131800"/>
            <a:ext cx="81280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charset="-120"/>
                <a:ea typeface="Microsoft JhengHei" charset="-120"/>
                <a:cs typeface="Microsoft JhengHei" charset="-120"/>
              </a:rPr>
              <a:t>標準法 </a:t>
            </a:r>
            <a:r>
              <a:rPr lang="mr-IN" altLang="zh-TW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charset="-120"/>
                <a:ea typeface="Microsoft JhengHei" charset="-120"/>
                <a:cs typeface="Microsoft JhengHei" charset="-120"/>
              </a:rPr>
              <a:t>–</a:t>
            </a:r>
            <a:r>
              <a:rPr lang="zh-TW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charset="-120"/>
                <a:ea typeface="Microsoft JhengHei" charset="-120"/>
                <a:cs typeface="Microsoft JhengHei" charset="-120"/>
              </a:rPr>
              <a:t> 消金曝險部位</a:t>
            </a:r>
            <a:endParaRPr lang="en-AU" sz="2500" b="1" dirty="0">
              <a:solidFill>
                <a:schemeClr val="tx1">
                  <a:lumMod val="65000"/>
                  <a:lumOff val="35000"/>
                </a:schemeClr>
              </a:solidFill>
              <a:latin typeface="Microsoft JhengHei" charset="-120"/>
              <a:ea typeface="Microsoft JhengHei" charset="-120"/>
              <a:cs typeface="Microsoft JhengHei" charset="-120"/>
            </a:endParaRPr>
          </a:p>
        </p:txBody>
      </p:sp>
      <p:grpSp>
        <p:nvGrpSpPr>
          <p:cNvPr id="51" name="Group 50"/>
          <p:cNvGrpSpPr/>
          <p:nvPr/>
        </p:nvGrpSpPr>
        <p:grpSpPr>
          <a:xfrm>
            <a:off x="1823737" y="3013941"/>
            <a:ext cx="5972984" cy="2873095"/>
            <a:chOff x="1493538" y="1418002"/>
            <a:chExt cx="5972984" cy="2873095"/>
          </a:xfrm>
        </p:grpSpPr>
        <p:sp>
          <p:nvSpPr>
            <p:cNvPr id="4" name="Rounded Rectangle 3"/>
            <p:cNvSpPr/>
            <p:nvPr/>
          </p:nvSpPr>
          <p:spPr>
            <a:xfrm>
              <a:off x="1493538" y="2593361"/>
              <a:ext cx="1104899" cy="526157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 smtClean="0">
                  <a:solidFill>
                    <a:schemeClr val="bg1"/>
                  </a:solidFill>
                  <a:latin typeface="Microsoft JhengHei" charset="-120"/>
                  <a:ea typeface="Microsoft JhengHei" charset="-120"/>
                  <a:cs typeface="Microsoft JhengHei" charset="-120"/>
                </a:rPr>
                <a:t>消金</a:t>
              </a:r>
              <a:endParaRPr lang="en-US" altLang="zh-TW" sz="1400" b="1" dirty="0" smtClean="0">
                <a:solidFill>
                  <a:schemeClr val="bg1"/>
                </a:solidFill>
                <a:latin typeface="Microsoft JhengHei" charset="-120"/>
                <a:ea typeface="Microsoft JhengHei" charset="-120"/>
                <a:cs typeface="Microsoft JhengHei" charset="-120"/>
              </a:endParaRPr>
            </a:p>
            <a:p>
              <a:pPr algn="ctr"/>
              <a:r>
                <a:rPr lang="zh-TW" altLang="en-US" sz="1400" b="1" dirty="0" smtClean="0">
                  <a:solidFill>
                    <a:schemeClr val="bg1"/>
                  </a:solidFill>
                  <a:latin typeface="Microsoft JhengHei" charset="-120"/>
                  <a:ea typeface="Microsoft JhengHei" charset="-120"/>
                  <a:cs typeface="Microsoft JhengHei" charset="-120"/>
                </a:rPr>
                <a:t>（非房貸）</a:t>
              </a:r>
              <a:endParaRPr lang="en-AU" sz="1400" b="1" dirty="0">
                <a:solidFill>
                  <a:schemeClr val="bg1"/>
                </a:solidFill>
                <a:latin typeface="Microsoft JhengHei" charset="-120"/>
                <a:ea typeface="Microsoft JhengHei" charset="-120"/>
                <a:cs typeface="Microsoft JhengHei" charset="-120"/>
              </a:endParaRPr>
            </a:p>
          </p:txBody>
        </p:sp>
        <p:sp>
          <p:nvSpPr>
            <p:cNvPr id="6" name="Left Bracket 5"/>
            <p:cNvSpPr/>
            <p:nvPr/>
          </p:nvSpPr>
          <p:spPr>
            <a:xfrm>
              <a:off x="3179928" y="1679686"/>
              <a:ext cx="436729" cy="2346214"/>
            </a:xfrm>
            <a:prstGeom prst="leftBracket">
              <a:avLst>
                <a:gd name="adj" fmla="val 467"/>
              </a:avLst>
            </a:prstGeom>
            <a:ln>
              <a:solidFill>
                <a:schemeClr val="tx2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8" name="Straight Connector 7"/>
            <p:cNvCxnSpPr>
              <a:stCxn id="4" idx="3"/>
              <a:endCxn id="37" idx="1"/>
            </p:cNvCxnSpPr>
            <p:nvPr/>
          </p:nvCxnSpPr>
          <p:spPr>
            <a:xfrm flipV="1">
              <a:off x="2598437" y="2854550"/>
              <a:ext cx="1018220" cy="189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Rounded Rectangle 17"/>
            <p:cNvSpPr/>
            <p:nvPr/>
          </p:nvSpPr>
          <p:spPr>
            <a:xfrm>
              <a:off x="3616657" y="1418002"/>
              <a:ext cx="1133143" cy="522377"/>
            </a:xfrm>
            <a:prstGeom prst="round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27000" algn="ctr"/>
              <a:r>
                <a:rPr lang="zh-TW" altLang="en-US" sz="1400" b="1" dirty="0" smtClean="0">
                  <a:solidFill>
                    <a:schemeClr val="bg1"/>
                  </a:solidFill>
                  <a:latin typeface="Microsoft JhengHei" charset="-120"/>
                  <a:ea typeface="Microsoft JhengHei" charset="-120"/>
                  <a:cs typeface="Microsoft JhengHei" charset="-120"/>
                </a:rPr>
                <a:t>合格消金</a:t>
              </a:r>
              <a:endParaRPr lang="en-US" altLang="zh-TW" sz="1400" b="1" dirty="0" smtClean="0">
                <a:solidFill>
                  <a:schemeClr val="bg1"/>
                </a:solidFill>
                <a:latin typeface="Microsoft JhengHei" charset="-120"/>
                <a:ea typeface="Microsoft JhengHei" charset="-120"/>
                <a:cs typeface="Microsoft JhengHei" charset="-120"/>
              </a:endParaRPr>
            </a:p>
            <a:p>
              <a:pPr algn="ctr"/>
              <a:r>
                <a:rPr lang="zh-TW" altLang="en-US" sz="1400" b="1" dirty="0" smtClean="0">
                  <a:solidFill>
                    <a:schemeClr val="bg1"/>
                  </a:solidFill>
                  <a:latin typeface="Microsoft JhengHei" charset="-120"/>
                  <a:ea typeface="Microsoft JhengHei" charset="-120"/>
                  <a:cs typeface="Microsoft JhengHei" charset="-120"/>
                </a:rPr>
                <a:t>（非循環型）</a:t>
              </a:r>
              <a:endParaRPr lang="en-AU" sz="1400" b="1" dirty="0">
                <a:solidFill>
                  <a:schemeClr val="bg1"/>
                </a:solidFill>
                <a:latin typeface="Microsoft JhengHei" charset="-120"/>
                <a:ea typeface="Microsoft JhengHei" charset="-120"/>
                <a:cs typeface="Microsoft JhengHei" charset="-120"/>
              </a:endParaRPr>
            </a:p>
          </p:txBody>
        </p:sp>
        <p:sp>
          <p:nvSpPr>
            <p:cNvPr id="20" name="Left Bracket 19"/>
            <p:cNvSpPr/>
            <p:nvPr/>
          </p:nvSpPr>
          <p:spPr>
            <a:xfrm>
              <a:off x="5141813" y="2393310"/>
              <a:ext cx="436729" cy="920518"/>
            </a:xfrm>
            <a:prstGeom prst="leftBracket">
              <a:avLst>
                <a:gd name="adj" fmla="val 467"/>
              </a:avLst>
            </a:prstGeom>
            <a:ln>
              <a:solidFill>
                <a:schemeClr val="tx2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21" name="Straight Connector 20"/>
            <p:cNvCxnSpPr/>
            <p:nvPr/>
          </p:nvCxnSpPr>
          <p:spPr>
            <a:xfrm flipV="1">
              <a:off x="4746028" y="2854549"/>
              <a:ext cx="395785" cy="1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4809509" y="1509913"/>
              <a:ext cx="7540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400" b="1" dirty="0" smtClean="0">
                  <a:solidFill>
                    <a:schemeClr val="accent1">
                      <a:lumMod val="50000"/>
                    </a:schemeClr>
                  </a:solidFill>
                  <a:latin typeface="Microsoft JhengHei" charset="-120"/>
                  <a:ea typeface="Microsoft JhengHei" charset="-120"/>
                  <a:cs typeface="Microsoft JhengHei" charset="-120"/>
                </a:rPr>
                <a:t>75%</a:t>
              </a:r>
              <a:endParaRPr lang="en-AU" sz="1400" b="1" dirty="0">
                <a:solidFill>
                  <a:schemeClr val="accent1">
                    <a:lumMod val="50000"/>
                  </a:schemeClr>
                </a:solidFill>
                <a:latin typeface="Microsoft JhengHei" charset="-120"/>
                <a:ea typeface="Microsoft JhengHei" charset="-120"/>
                <a:cs typeface="Microsoft JhengHei" charset="-120"/>
              </a:endParaRP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5578542" y="2075356"/>
              <a:ext cx="1133940" cy="596766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 smtClean="0">
                  <a:solidFill>
                    <a:schemeClr val="tx2"/>
                  </a:solidFill>
                  <a:latin typeface="Microsoft JhengHei" charset="-120"/>
                  <a:ea typeface="Microsoft JhengHei" charset="-120"/>
                  <a:cs typeface="Microsoft JhengHei" charset="-120"/>
                </a:rPr>
                <a:t>使用循環者</a:t>
              </a:r>
              <a:endParaRPr lang="en-AU" sz="1400" b="1" dirty="0">
                <a:solidFill>
                  <a:schemeClr val="tx2"/>
                </a:solidFill>
                <a:latin typeface="Microsoft JhengHei" charset="-120"/>
                <a:ea typeface="Microsoft JhengHei" charset="-120"/>
                <a:cs typeface="Microsoft JhengHei" charset="-120"/>
              </a:endParaRP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3616657" y="2593361"/>
              <a:ext cx="1133143" cy="522377"/>
            </a:xfrm>
            <a:prstGeom prst="round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8100" algn="ctr"/>
              <a:r>
                <a:rPr lang="zh-TW" altLang="en-US" sz="1400" b="1" dirty="0" smtClean="0">
                  <a:solidFill>
                    <a:schemeClr val="bg1"/>
                  </a:solidFill>
                  <a:latin typeface="Microsoft JhengHei" charset="-120"/>
                  <a:ea typeface="Microsoft JhengHei" charset="-120"/>
                  <a:cs typeface="Microsoft JhengHei" charset="-120"/>
                </a:rPr>
                <a:t>合格消金</a:t>
              </a:r>
              <a:endParaRPr lang="en-US" altLang="zh-TW" sz="1400" b="1" dirty="0" smtClean="0">
                <a:solidFill>
                  <a:schemeClr val="bg1"/>
                </a:solidFill>
                <a:latin typeface="Microsoft JhengHei" charset="-120"/>
                <a:ea typeface="Microsoft JhengHei" charset="-120"/>
                <a:cs typeface="Microsoft JhengHei" charset="-120"/>
              </a:endParaRPr>
            </a:p>
            <a:p>
              <a:pPr algn="ctr"/>
              <a:r>
                <a:rPr lang="zh-TW" altLang="en-US" sz="1400" b="1" dirty="0" smtClean="0">
                  <a:solidFill>
                    <a:schemeClr val="bg1"/>
                  </a:solidFill>
                  <a:latin typeface="Microsoft JhengHei" charset="-120"/>
                  <a:ea typeface="Microsoft JhengHei" charset="-120"/>
                  <a:cs typeface="Microsoft JhengHei" charset="-120"/>
                </a:rPr>
                <a:t>（循環型）</a:t>
              </a:r>
              <a:endParaRPr lang="en-AU" sz="1400" b="1" dirty="0">
                <a:solidFill>
                  <a:schemeClr val="bg1"/>
                </a:solidFill>
                <a:latin typeface="Microsoft JhengHei" charset="-120"/>
                <a:ea typeface="Microsoft JhengHei" charset="-120"/>
                <a:cs typeface="Microsoft JhengHei" charset="-120"/>
              </a:endParaRP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5578542" y="3015445"/>
              <a:ext cx="1133940" cy="596766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 smtClean="0">
                  <a:solidFill>
                    <a:schemeClr val="tx2"/>
                  </a:solidFill>
                  <a:latin typeface="Microsoft JhengHei" charset="-120"/>
                  <a:ea typeface="Microsoft JhengHei" charset="-120"/>
                  <a:cs typeface="Microsoft JhengHei" charset="-120"/>
                </a:rPr>
                <a:t>純交易者</a:t>
              </a:r>
              <a:endParaRPr lang="en-AU" sz="1400" b="1" dirty="0">
                <a:solidFill>
                  <a:schemeClr val="tx2"/>
                </a:solidFill>
                <a:latin typeface="Microsoft JhengHei" charset="-120"/>
                <a:ea typeface="Microsoft JhengHei" charset="-120"/>
                <a:cs typeface="Microsoft JhengHei" charset="-120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712482" y="2219850"/>
              <a:ext cx="7540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400" b="1" dirty="0" smtClean="0">
                  <a:solidFill>
                    <a:schemeClr val="accent1">
                      <a:lumMod val="50000"/>
                    </a:schemeClr>
                  </a:solidFill>
                  <a:latin typeface="Microsoft JhengHei" charset="-120"/>
                  <a:ea typeface="Microsoft JhengHei" charset="-120"/>
                  <a:cs typeface="Microsoft JhengHei" charset="-120"/>
                </a:rPr>
                <a:t>75%</a:t>
              </a:r>
              <a:endParaRPr lang="en-AU" sz="1400" b="1" dirty="0">
                <a:solidFill>
                  <a:schemeClr val="accent1">
                    <a:lumMod val="50000"/>
                  </a:schemeClr>
                </a:solidFill>
                <a:latin typeface="Microsoft JhengHei" charset="-120"/>
                <a:ea typeface="Microsoft JhengHei" charset="-120"/>
                <a:cs typeface="Microsoft JhengHei" charset="-12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712482" y="3159939"/>
              <a:ext cx="7540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400" b="1" dirty="0" smtClean="0">
                  <a:solidFill>
                    <a:schemeClr val="accent2"/>
                  </a:solidFill>
                  <a:latin typeface="Microsoft JhengHei" charset="-120"/>
                  <a:ea typeface="Microsoft JhengHei" charset="-120"/>
                  <a:cs typeface="Microsoft JhengHei" charset="-120"/>
                </a:rPr>
                <a:t>45%</a:t>
              </a:r>
              <a:endParaRPr lang="en-AU" sz="1400" b="1" dirty="0">
                <a:solidFill>
                  <a:schemeClr val="accent2"/>
                </a:solidFill>
                <a:latin typeface="Microsoft JhengHei" charset="-120"/>
                <a:ea typeface="Microsoft JhengHei" charset="-120"/>
                <a:cs typeface="Microsoft JhengHei" charset="-120"/>
              </a:endParaRPr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3612885" y="3768720"/>
              <a:ext cx="1133143" cy="522377"/>
            </a:xfrm>
            <a:prstGeom prst="round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TW" altLang="en-US" sz="1400" b="1" dirty="0" smtClean="0">
                  <a:solidFill>
                    <a:schemeClr val="bg1"/>
                  </a:solidFill>
                  <a:latin typeface="Microsoft JhengHei" charset="-120"/>
                  <a:ea typeface="Microsoft JhengHei" charset="-120"/>
                  <a:cs typeface="Microsoft JhengHei" charset="-120"/>
                </a:rPr>
                <a:t>非合格消金</a:t>
              </a:r>
              <a:endParaRPr lang="en-AU" sz="1400" b="1" dirty="0">
                <a:solidFill>
                  <a:schemeClr val="bg1"/>
                </a:solidFill>
                <a:latin typeface="Microsoft JhengHei" charset="-120"/>
                <a:ea typeface="Microsoft JhengHei" charset="-120"/>
                <a:cs typeface="Microsoft JhengHei" charset="-120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4746028" y="3874129"/>
              <a:ext cx="7540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400" b="1" dirty="0" smtClean="0">
                  <a:solidFill>
                    <a:schemeClr val="accent1">
                      <a:lumMod val="50000"/>
                    </a:schemeClr>
                  </a:solidFill>
                  <a:latin typeface="Microsoft JhengHei" charset="-120"/>
                  <a:ea typeface="Microsoft JhengHei" charset="-120"/>
                  <a:cs typeface="Microsoft JhengHei" charset="-120"/>
                </a:rPr>
                <a:t>100%</a:t>
              </a:r>
              <a:endParaRPr lang="en-AU" sz="1400" b="1" dirty="0">
                <a:solidFill>
                  <a:schemeClr val="accent1">
                    <a:lumMod val="50000"/>
                  </a:schemeClr>
                </a:solidFill>
                <a:latin typeface="Microsoft JhengHei" charset="-120"/>
                <a:ea typeface="Microsoft JhengHei" charset="-120"/>
                <a:cs typeface="Microsoft JhengHei" charset="-120"/>
              </a:endParaRPr>
            </a:p>
          </p:txBody>
        </p:sp>
      </p:grpSp>
      <p:sp>
        <p:nvSpPr>
          <p:cNvPr id="52" name="TextBox 51"/>
          <p:cNvSpPr txBox="1"/>
          <p:nvPr/>
        </p:nvSpPr>
        <p:spPr>
          <a:xfrm>
            <a:off x="662931" y="2736149"/>
            <a:ext cx="1137938" cy="3693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 smtClean="0">
                <a:solidFill>
                  <a:schemeClr val="tx2"/>
                </a:solidFill>
              </a:rPr>
              <a:t>BASEL</a:t>
            </a:r>
            <a:r>
              <a:rPr lang="zh-TW" altLang="en-US" dirty="0" smtClean="0">
                <a:solidFill>
                  <a:schemeClr val="tx2"/>
                </a:solidFill>
              </a:rPr>
              <a:t> </a:t>
            </a:r>
            <a:r>
              <a:rPr lang="en-US" altLang="zh-TW" dirty="0" smtClean="0">
                <a:solidFill>
                  <a:schemeClr val="tx2"/>
                </a:solidFill>
              </a:rPr>
              <a:t>III</a:t>
            </a:r>
            <a:endParaRPr lang="en-AU" dirty="0">
              <a:solidFill>
                <a:schemeClr val="tx2"/>
              </a:solidFill>
            </a:endParaRPr>
          </a:p>
        </p:txBody>
      </p:sp>
      <p:grpSp>
        <p:nvGrpSpPr>
          <p:cNvPr id="79" name="Group 78"/>
          <p:cNvGrpSpPr/>
          <p:nvPr/>
        </p:nvGrpSpPr>
        <p:grpSpPr>
          <a:xfrm>
            <a:off x="662931" y="825788"/>
            <a:ext cx="5167336" cy="1620464"/>
            <a:chOff x="662931" y="825788"/>
            <a:chExt cx="5167336" cy="1620464"/>
          </a:xfrm>
        </p:grpSpPr>
        <p:sp>
          <p:nvSpPr>
            <p:cNvPr id="55" name="TextBox 54"/>
            <p:cNvSpPr txBox="1"/>
            <p:nvPr/>
          </p:nvSpPr>
          <p:spPr>
            <a:xfrm>
              <a:off x="662931" y="825788"/>
              <a:ext cx="1137938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 smtClean="0">
                  <a:solidFill>
                    <a:schemeClr val="tx2"/>
                  </a:solidFill>
                </a:rPr>
                <a:t>NOW</a:t>
              </a:r>
              <a:endParaRPr lang="en-AU" dirty="0">
                <a:solidFill>
                  <a:schemeClr val="tx2"/>
                </a:solidFill>
              </a:endParaRPr>
            </a:p>
          </p:txBody>
        </p:sp>
        <p:sp>
          <p:nvSpPr>
            <p:cNvPr id="57" name="Rounded Rectangle 56"/>
            <p:cNvSpPr/>
            <p:nvPr/>
          </p:nvSpPr>
          <p:spPr>
            <a:xfrm>
              <a:off x="1820762" y="1445123"/>
              <a:ext cx="1104899" cy="526157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 smtClean="0">
                  <a:solidFill>
                    <a:schemeClr val="bg1"/>
                  </a:solidFill>
                  <a:latin typeface="Microsoft JhengHei" charset="-120"/>
                  <a:ea typeface="Microsoft JhengHei" charset="-120"/>
                  <a:cs typeface="Microsoft JhengHei" charset="-120"/>
                </a:rPr>
                <a:t>消金</a:t>
              </a:r>
              <a:endParaRPr lang="en-US" altLang="zh-TW" sz="1400" b="1" dirty="0" smtClean="0">
                <a:solidFill>
                  <a:schemeClr val="bg1"/>
                </a:solidFill>
                <a:latin typeface="Microsoft JhengHei" charset="-120"/>
                <a:ea typeface="Microsoft JhengHei" charset="-120"/>
                <a:cs typeface="Microsoft JhengHei" charset="-120"/>
              </a:endParaRPr>
            </a:p>
            <a:p>
              <a:pPr algn="ctr"/>
              <a:r>
                <a:rPr lang="zh-TW" altLang="en-US" sz="1400" b="1" dirty="0" smtClean="0">
                  <a:solidFill>
                    <a:schemeClr val="bg1"/>
                  </a:solidFill>
                  <a:latin typeface="Microsoft JhengHei" charset="-120"/>
                  <a:ea typeface="Microsoft JhengHei" charset="-120"/>
                  <a:cs typeface="Microsoft JhengHei" charset="-120"/>
                </a:rPr>
                <a:t>（非房貸）</a:t>
              </a:r>
              <a:endParaRPr lang="en-AU" sz="1400" b="1" dirty="0">
                <a:solidFill>
                  <a:schemeClr val="bg1"/>
                </a:solidFill>
                <a:latin typeface="Microsoft JhengHei" charset="-120"/>
                <a:ea typeface="Microsoft JhengHei" charset="-120"/>
                <a:cs typeface="Microsoft JhengHei" charset="-120"/>
              </a:endParaRPr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3943084" y="974270"/>
              <a:ext cx="1133143" cy="522377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8100" algn="ctr"/>
              <a:r>
                <a:rPr lang="zh-TW" altLang="en-US" sz="1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charset="-120"/>
                  <a:ea typeface="Microsoft JhengHei" charset="-120"/>
                  <a:cs typeface="Microsoft JhengHei" charset="-120"/>
                </a:rPr>
                <a:t>合格消金</a:t>
              </a:r>
              <a:endParaRPr lang="en-US" altLang="zh-TW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charset="-120"/>
                <a:ea typeface="Microsoft JhengHei" charset="-120"/>
                <a:cs typeface="Microsoft JhengHei" charset="-120"/>
              </a:endParaRPr>
            </a:p>
          </p:txBody>
        </p:sp>
        <p:sp>
          <p:nvSpPr>
            <p:cNvPr id="59" name="Rounded Rectangle 58"/>
            <p:cNvSpPr/>
            <p:nvPr/>
          </p:nvSpPr>
          <p:spPr>
            <a:xfrm>
              <a:off x="3943084" y="1923875"/>
              <a:ext cx="1133143" cy="522377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TW" altLang="en-US" sz="1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charset="-120"/>
                  <a:ea typeface="Microsoft JhengHei" charset="-120"/>
                  <a:cs typeface="Microsoft JhengHei" charset="-120"/>
                </a:rPr>
                <a:t>非合格消金</a:t>
              </a:r>
              <a:endParaRPr lang="en-AU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charset="-120"/>
                <a:ea typeface="Microsoft JhengHei" charset="-120"/>
                <a:cs typeface="Microsoft JhengHei" charset="-120"/>
              </a:endParaRPr>
            </a:p>
          </p:txBody>
        </p:sp>
        <p:sp>
          <p:nvSpPr>
            <p:cNvPr id="60" name="Left Bracket 59"/>
            <p:cNvSpPr/>
            <p:nvPr/>
          </p:nvSpPr>
          <p:spPr>
            <a:xfrm>
              <a:off x="3506355" y="1247943"/>
              <a:ext cx="436729" cy="920518"/>
            </a:xfrm>
            <a:prstGeom prst="leftBracket">
              <a:avLst>
                <a:gd name="adj" fmla="val 467"/>
              </a:avLst>
            </a:prstGeom>
            <a:ln>
              <a:solidFill>
                <a:schemeClr val="tx2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5076227" y="1080819"/>
              <a:ext cx="7540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400" b="1" dirty="0" smtClean="0">
                  <a:solidFill>
                    <a:schemeClr val="accent1">
                      <a:lumMod val="50000"/>
                    </a:schemeClr>
                  </a:solidFill>
                  <a:latin typeface="Microsoft JhengHei" charset="-120"/>
                  <a:ea typeface="Microsoft JhengHei" charset="-120"/>
                  <a:cs typeface="Microsoft JhengHei" charset="-120"/>
                </a:rPr>
                <a:t>75%</a:t>
              </a:r>
              <a:endParaRPr lang="en-AU" sz="1400" b="1" dirty="0">
                <a:solidFill>
                  <a:schemeClr val="accent1">
                    <a:lumMod val="50000"/>
                  </a:schemeClr>
                </a:solidFill>
                <a:latin typeface="Microsoft JhengHei" charset="-120"/>
                <a:ea typeface="Microsoft JhengHei" charset="-120"/>
                <a:cs typeface="Microsoft JhengHei" charset="-120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5076227" y="2034441"/>
              <a:ext cx="7540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400" b="1" smtClean="0">
                  <a:solidFill>
                    <a:schemeClr val="accent1">
                      <a:lumMod val="50000"/>
                    </a:schemeClr>
                  </a:solidFill>
                  <a:latin typeface="Microsoft JhengHei" charset="-120"/>
                  <a:ea typeface="Microsoft JhengHei" charset="-120"/>
                  <a:cs typeface="Microsoft JhengHei" charset="-120"/>
                </a:rPr>
                <a:t>100%</a:t>
              </a:r>
              <a:endParaRPr lang="en-AU" sz="1400" b="1" dirty="0">
                <a:solidFill>
                  <a:schemeClr val="accent1">
                    <a:lumMod val="50000"/>
                  </a:schemeClr>
                </a:solidFill>
                <a:latin typeface="Microsoft JhengHei" charset="-120"/>
                <a:ea typeface="Microsoft JhengHei" charset="-120"/>
                <a:cs typeface="Microsoft JhengHei" charset="-120"/>
              </a:endParaRPr>
            </a:p>
          </p:txBody>
        </p:sp>
        <p:cxnSp>
          <p:nvCxnSpPr>
            <p:cNvPr id="64" name="Straight Connector 63"/>
            <p:cNvCxnSpPr>
              <a:stCxn id="57" idx="3"/>
              <a:endCxn id="60" idx="1"/>
            </p:cNvCxnSpPr>
            <p:nvPr/>
          </p:nvCxnSpPr>
          <p:spPr>
            <a:xfrm>
              <a:off x="2925661" y="1708202"/>
              <a:ext cx="580694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0" name="TextBox 69"/>
          <p:cNvSpPr txBox="1"/>
          <p:nvPr/>
        </p:nvSpPr>
        <p:spPr>
          <a:xfrm>
            <a:off x="7672388" y="22002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AU" dirty="0"/>
          </a:p>
        </p:txBody>
      </p:sp>
      <p:grpSp>
        <p:nvGrpSpPr>
          <p:cNvPr id="78" name="Group 77"/>
          <p:cNvGrpSpPr/>
          <p:nvPr/>
        </p:nvGrpSpPr>
        <p:grpSpPr>
          <a:xfrm>
            <a:off x="5830267" y="981318"/>
            <a:ext cx="3057141" cy="1445187"/>
            <a:chOff x="5830267" y="981318"/>
            <a:chExt cx="3057141" cy="1445187"/>
          </a:xfrm>
        </p:grpSpPr>
        <p:grpSp>
          <p:nvGrpSpPr>
            <p:cNvPr id="77" name="Group 76"/>
            <p:cNvGrpSpPr/>
            <p:nvPr/>
          </p:nvGrpSpPr>
          <p:grpSpPr>
            <a:xfrm>
              <a:off x="5830267" y="981318"/>
              <a:ext cx="3057141" cy="1441823"/>
              <a:chOff x="5830267" y="981318"/>
              <a:chExt cx="3057141" cy="1441823"/>
            </a:xfrm>
          </p:grpSpPr>
          <p:sp>
            <p:nvSpPr>
              <p:cNvPr id="74" name="Rectangle 73"/>
              <p:cNvSpPr/>
              <p:nvPr/>
            </p:nvSpPr>
            <p:spPr>
              <a:xfrm>
                <a:off x="5973725" y="1171276"/>
                <a:ext cx="2913683" cy="1251865"/>
              </a:xfrm>
              <a:prstGeom prst="rect">
                <a:avLst/>
              </a:prstGeom>
              <a:noFill/>
              <a:ln w="28575">
                <a:solidFill>
                  <a:schemeClr val="tx2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pic>
            <p:nvPicPr>
              <p:cNvPr id="71" name="Picture 70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30267" y="981318"/>
                <a:ext cx="413877" cy="413876"/>
              </a:xfrm>
              <a:prstGeom prst="rect">
                <a:avLst/>
              </a:prstGeom>
            </p:spPr>
          </p:pic>
        </p:grpSp>
        <p:sp>
          <p:nvSpPr>
            <p:cNvPr id="75" name="TextBox 74"/>
            <p:cNvSpPr txBox="1"/>
            <p:nvPr/>
          </p:nvSpPr>
          <p:spPr>
            <a:xfrm>
              <a:off x="6146742" y="1226176"/>
              <a:ext cx="2567648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200" b="1" dirty="0" smtClean="0">
                  <a:latin typeface="Microsoft JhengHei" charset="-120"/>
                  <a:ea typeface="Microsoft JhengHei" charset="-120"/>
                  <a:cs typeface="Microsoft JhengHei" charset="-120"/>
                </a:rPr>
                <a:t>純交易者</a:t>
              </a:r>
              <a:r>
                <a:rPr lang="en-US" altLang="zh-TW" sz="1200" dirty="0" smtClean="0">
                  <a:latin typeface="Microsoft JhengHei" charset="-120"/>
                  <a:ea typeface="Microsoft JhengHei" charset="-120"/>
                  <a:cs typeface="Microsoft JhengHei" charset="-120"/>
                </a:rPr>
                <a:t>:</a:t>
              </a:r>
              <a:r>
                <a:rPr lang="zh-TW" altLang="en-US" sz="1200" dirty="0" smtClean="0">
                  <a:latin typeface="Microsoft JhengHei" charset="-120"/>
                  <a:ea typeface="Microsoft JhengHei" charset="-120"/>
                  <a:cs typeface="Microsoft JhengHei" charset="-120"/>
                </a:rPr>
                <a:t> </a:t>
              </a:r>
              <a:endParaRPr lang="en-US" altLang="zh-TW" sz="1200" dirty="0" smtClean="0">
                <a:latin typeface="Microsoft JhengHei" charset="-120"/>
                <a:ea typeface="Microsoft JhengHei" charset="-120"/>
                <a:cs typeface="Microsoft JhengHei" charset="-120"/>
              </a:endParaRPr>
            </a:p>
            <a:p>
              <a:pPr marL="171450" indent="-171450">
                <a:buFontTx/>
                <a:buChar char="-"/>
              </a:pPr>
              <a:r>
                <a:rPr lang="zh-TW" altLang="en-US" sz="1200" dirty="0" smtClean="0">
                  <a:latin typeface="Microsoft JhengHei" charset="-120"/>
                  <a:ea typeface="Microsoft JhengHei" charset="-120"/>
                  <a:cs typeface="Microsoft JhengHei" charset="-120"/>
                </a:rPr>
                <a:t>屬合格消金範圍</a:t>
              </a:r>
              <a:endParaRPr lang="en-US" altLang="zh-TW" sz="1200" dirty="0" smtClean="0">
                <a:latin typeface="Microsoft JhengHei" charset="-120"/>
                <a:ea typeface="Microsoft JhengHei" charset="-120"/>
                <a:cs typeface="Microsoft JhengHei" charset="-120"/>
              </a:endParaRPr>
            </a:p>
            <a:p>
              <a:pPr marL="171450" indent="-171450">
                <a:buFontTx/>
                <a:buChar char="-"/>
              </a:pPr>
              <a:r>
                <a:rPr lang="zh-TW" altLang="en-US" sz="1200" dirty="0" smtClean="0">
                  <a:latin typeface="Microsoft JhengHei" charset="-120"/>
                  <a:ea typeface="Microsoft JhengHei" charset="-120"/>
                  <a:cs typeface="Microsoft JhengHei" charset="-120"/>
                </a:rPr>
                <a:t>符合下列其中一項：</a:t>
              </a:r>
              <a:endParaRPr lang="en-US" altLang="zh-TW" sz="1200" dirty="0">
                <a:latin typeface="Microsoft JhengHei" charset="-120"/>
                <a:ea typeface="Microsoft JhengHei" charset="-120"/>
                <a:cs typeface="Microsoft JhengHei" charset="-120"/>
              </a:endParaRPr>
            </a:p>
            <a:p>
              <a:pPr marL="350838" indent="-171450">
                <a:buFont typeface="Arial" charset="0"/>
                <a:buChar char="•"/>
              </a:pPr>
              <a:r>
                <a:rPr lang="zh-TW" altLang="en-US" sz="1200" dirty="0" smtClean="0">
                  <a:latin typeface="Microsoft JhengHei" charset="-120"/>
                  <a:ea typeface="Microsoft JhengHei" charset="-120"/>
                  <a:cs typeface="Microsoft JhengHei" charset="-120"/>
                </a:rPr>
                <a:t>信用卡或簽帳卡等相關授信：過去</a:t>
              </a:r>
              <a:r>
                <a:rPr lang="en-US" altLang="zh-TW" sz="1200" dirty="0" smtClean="0">
                  <a:latin typeface="Microsoft JhengHei" charset="-120"/>
                  <a:ea typeface="Microsoft JhengHei" charset="-120"/>
                  <a:cs typeface="Microsoft JhengHei" charset="-120"/>
                </a:rPr>
                <a:t>12</a:t>
              </a:r>
              <a:r>
                <a:rPr lang="zh-TW" altLang="en-US" sz="1200" dirty="0" smtClean="0">
                  <a:latin typeface="Microsoft JhengHei" charset="-120"/>
                  <a:ea typeface="Microsoft JhengHei" charset="-120"/>
                  <a:cs typeface="Microsoft JhengHei" charset="-120"/>
                </a:rPr>
                <a:t>個月無逾期並全額還款</a:t>
              </a:r>
              <a:endParaRPr lang="en-US" altLang="zh-TW" sz="1200" dirty="0" smtClean="0">
                <a:latin typeface="Microsoft JhengHei" charset="-120"/>
                <a:ea typeface="Microsoft JhengHei" charset="-120"/>
                <a:cs typeface="Microsoft JhengHei" charset="-120"/>
              </a:endParaRPr>
            </a:p>
            <a:p>
              <a:pPr marL="350838" indent="-171450">
                <a:buFont typeface="Arial" charset="0"/>
                <a:buChar char="•"/>
              </a:pPr>
              <a:r>
                <a:rPr lang="zh-TW" altLang="en-US" sz="1200" dirty="0" smtClean="0">
                  <a:latin typeface="Microsoft JhengHei" charset="-120"/>
                  <a:ea typeface="Microsoft JhengHei" charset="-120"/>
                  <a:cs typeface="Microsoft JhengHei" charset="-120"/>
                </a:rPr>
                <a:t>透支貸款：過去</a:t>
              </a:r>
              <a:r>
                <a:rPr lang="en-US" altLang="zh-TW" sz="1200" dirty="0" smtClean="0">
                  <a:latin typeface="Microsoft JhengHei" charset="-120"/>
                  <a:ea typeface="Microsoft JhengHei" charset="-120"/>
                  <a:cs typeface="Microsoft JhengHei" charset="-120"/>
                </a:rPr>
                <a:t>12</a:t>
              </a:r>
              <a:r>
                <a:rPr lang="zh-TW" altLang="en-US" sz="1200" dirty="0" smtClean="0">
                  <a:latin typeface="Microsoft JhengHei" charset="-120"/>
                  <a:ea typeface="Microsoft JhengHei" charset="-120"/>
                  <a:cs typeface="Microsoft JhengHei" charset="-120"/>
                </a:rPr>
                <a:t>個月無動用</a:t>
              </a:r>
              <a:endParaRPr lang="en-US" altLang="zh-TW" sz="1200" dirty="0" smtClean="0">
                <a:latin typeface="Microsoft JhengHei" charset="-120"/>
                <a:ea typeface="Microsoft JhengHei" charset="-120"/>
                <a:cs typeface="Microsoft JhengHei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9447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5655" y="131800"/>
            <a:ext cx="81280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charset="-120"/>
                <a:ea typeface="Microsoft JhengHei" charset="-120"/>
                <a:cs typeface="Microsoft JhengHei" charset="-120"/>
              </a:rPr>
              <a:t>標準法 </a:t>
            </a:r>
            <a:r>
              <a:rPr lang="mr-IN" altLang="zh-TW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charset="-120"/>
                <a:ea typeface="Microsoft JhengHei" charset="-120"/>
                <a:cs typeface="Microsoft JhengHei" charset="-120"/>
              </a:rPr>
              <a:t>–</a:t>
            </a:r>
            <a:r>
              <a:rPr lang="zh-TW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charset="-120"/>
                <a:ea typeface="Microsoft JhengHei" charset="-120"/>
                <a:cs typeface="Microsoft JhengHei" charset="-120"/>
              </a:rPr>
              <a:t> 一般消金房貸 </a:t>
            </a:r>
            <a:r>
              <a:rPr lang="en-US" altLang="zh-TW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charset="-120"/>
                <a:ea typeface="Microsoft JhengHei" charset="-120"/>
                <a:cs typeface="Microsoft JhengHei" charset="-120"/>
              </a:rPr>
              <a:t>(GRRE)</a:t>
            </a:r>
            <a:endParaRPr lang="en-AU" sz="2500" b="1" dirty="0">
              <a:solidFill>
                <a:schemeClr val="tx1">
                  <a:lumMod val="65000"/>
                  <a:lumOff val="35000"/>
                </a:schemeClr>
              </a:solidFill>
              <a:latin typeface="Microsoft JhengHei" charset="-120"/>
              <a:ea typeface="Microsoft JhengHei" charset="-120"/>
              <a:cs typeface="Microsoft JhengHei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84416" y="728124"/>
            <a:ext cx="1137938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 smtClean="0">
                <a:solidFill>
                  <a:schemeClr val="tx2"/>
                </a:solidFill>
              </a:rPr>
              <a:t>NOW</a:t>
            </a:r>
            <a:endParaRPr lang="en-AU" dirty="0">
              <a:solidFill>
                <a:schemeClr val="tx2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173117" y="1097456"/>
            <a:ext cx="1224071" cy="526157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 smtClean="0">
                <a:solidFill>
                  <a:schemeClr val="bg1"/>
                </a:solidFill>
                <a:latin typeface="Microsoft JhengHei" charset="-120"/>
                <a:ea typeface="Microsoft JhengHei" charset="-120"/>
                <a:cs typeface="Microsoft JhengHei" charset="-120"/>
              </a:rPr>
              <a:t>整體法</a:t>
            </a:r>
            <a:endParaRPr lang="en-AU" sz="1400" b="1" dirty="0">
              <a:solidFill>
                <a:schemeClr val="bg1"/>
              </a:solidFill>
              <a:latin typeface="Microsoft JhengHei" charset="-120"/>
              <a:ea typeface="Microsoft JhengHei" charset="-120"/>
              <a:cs typeface="Microsoft JhengHei" charset="-12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124163" y="2365623"/>
            <a:ext cx="1236295" cy="522377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/>
            <a:r>
              <a:rPr lang="en-US" altLang="zh-TW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charset="-120"/>
                <a:ea typeface="Microsoft JhengHei" charset="-120"/>
                <a:cs typeface="Microsoft JhengHei" charset="-120"/>
              </a:rPr>
              <a:t>75%</a:t>
            </a:r>
            <a:r>
              <a:rPr lang="zh-TW" alt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charset="-120"/>
                <a:ea typeface="Microsoft JhengHei" charset="-120"/>
                <a:cs typeface="Microsoft JhengHei" charset="-120"/>
              </a:rPr>
              <a:t> </a:t>
            </a:r>
            <a:r>
              <a:rPr lang="en-US" altLang="zh-TW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charset="-120"/>
                <a:ea typeface="Microsoft JhengHei" charset="-120"/>
                <a:cs typeface="Microsoft JhengHei" charset="-120"/>
              </a:rPr>
              <a:t>&lt;</a:t>
            </a:r>
            <a:r>
              <a:rPr lang="zh-TW" alt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charset="-120"/>
                <a:ea typeface="Microsoft JhengHei" charset="-120"/>
                <a:cs typeface="Microsoft JhengHei" charset="-120"/>
              </a:rPr>
              <a:t> </a:t>
            </a:r>
            <a:r>
              <a:rPr lang="en-US" altLang="zh-TW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charset="-120"/>
                <a:ea typeface="Microsoft JhengHei" charset="-120"/>
                <a:cs typeface="Microsoft JhengHei" charset="-120"/>
              </a:rPr>
              <a:t>LTV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4163" y="1646535"/>
            <a:ext cx="1236295" cy="522377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charset="-120"/>
                <a:ea typeface="Microsoft JhengHei" charset="-120"/>
                <a:cs typeface="Microsoft JhengHei" charset="-120"/>
              </a:rPr>
              <a:t>LTV</a:t>
            </a:r>
            <a:r>
              <a:rPr lang="zh-TW" alt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charset="-120"/>
                <a:ea typeface="Microsoft JhengHei" charset="-120"/>
                <a:cs typeface="Microsoft JhengHei" charset="-120"/>
              </a:rPr>
              <a:t> ≦ </a:t>
            </a:r>
            <a:r>
              <a:rPr lang="en-US" altLang="zh-TW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charset="-120"/>
                <a:ea typeface="Microsoft JhengHei" charset="-120"/>
                <a:cs typeface="Microsoft JhengHei" charset="-120"/>
              </a:rPr>
              <a:t>75%</a:t>
            </a:r>
            <a:endParaRPr lang="en-AU" sz="1400" b="1" dirty="0">
              <a:solidFill>
                <a:schemeClr val="tx1">
                  <a:lumMod val="75000"/>
                  <a:lumOff val="25000"/>
                </a:schemeClr>
              </a:solidFill>
              <a:latin typeface="Microsoft JhengHei" charset="-120"/>
              <a:ea typeface="Microsoft JhengHei" charset="-120"/>
              <a:cs typeface="Microsoft JhengHei" charset="-120"/>
            </a:endParaRPr>
          </a:p>
        </p:txBody>
      </p:sp>
      <p:sp>
        <p:nvSpPr>
          <p:cNvPr id="8" name="Left Bracket 7"/>
          <p:cNvSpPr/>
          <p:nvPr/>
        </p:nvSpPr>
        <p:spPr>
          <a:xfrm>
            <a:off x="2736388" y="1342501"/>
            <a:ext cx="436729" cy="920518"/>
          </a:xfrm>
          <a:prstGeom prst="leftBracket">
            <a:avLst>
              <a:gd name="adj" fmla="val 467"/>
            </a:avLst>
          </a:prstGeom>
          <a:ln>
            <a:solidFill>
              <a:schemeClr val="tx2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372145" y="1203457"/>
            <a:ext cx="7540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b="1" dirty="0" smtClean="0">
                <a:solidFill>
                  <a:schemeClr val="accent1">
                    <a:lumMod val="50000"/>
                  </a:schemeClr>
                </a:solidFill>
                <a:latin typeface="Microsoft JhengHei" charset="-120"/>
                <a:ea typeface="Microsoft JhengHei" charset="-120"/>
                <a:cs typeface="Microsoft JhengHei" charset="-120"/>
              </a:rPr>
              <a:t>35%</a:t>
            </a:r>
            <a:endParaRPr lang="en-AU" sz="1400" b="1" dirty="0">
              <a:solidFill>
                <a:schemeClr val="accent1">
                  <a:lumMod val="50000"/>
                </a:schemeClr>
              </a:solidFill>
              <a:latin typeface="Microsoft JhengHei" charset="-120"/>
              <a:ea typeface="Microsoft JhengHei" charset="-120"/>
              <a:cs typeface="Microsoft JhengHei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387352" y="1763454"/>
            <a:ext cx="7540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b="1" dirty="0" smtClean="0">
                <a:solidFill>
                  <a:schemeClr val="accent1">
                    <a:lumMod val="50000"/>
                  </a:schemeClr>
                </a:solidFill>
                <a:latin typeface="Microsoft JhengHei" charset="-120"/>
                <a:ea typeface="Microsoft JhengHei" charset="-120"/>
                <a:cs typeface="Microsoft JhengHei" charset="-120"/>
              </a:rPr>
              <a:t>35%</a:t>
            </a:r>
            <a:endParaRPr lang="en-AU" sz="1400" b="1" dirty="0">
              <a:solidFill>
                <a:schemeClr val="accent1">
                  <a:lumMod val="50000"/>
                </a:schemeClr>
              </a:solidFill>
              <a:latin typeface="Microsoft JhengHei" charset="-120"/>
              <a:ea typeface="Microsoft JhengHei" charset="-120"/>
              <a:cs typeface="Microsoft JhengHei" charset="-12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173116" y="1999940"/>
            <a:ext cx="1199029" cy="526157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 smtClean="0">
                <a:solidFill>
                  <a:schemeClr val="bg1"/>
                </a:solidFill>
                <a:latin typeface="Microsoft JhengHei" charset="-120"/>
                <a:ea typeface="Microsoft JhengHei" charset="-120"/>
                <a:cs typeface="Microsoft JhengHei" charset="-120"/>
              </a:rPr>
              <a:t>分割法</a:t>
            </a:r>
            <a:endParaRPr lang="en-AU" sz="1400" b="1" dirty="0">
              <a:solidFill>
                <a:schemeClr val="bg1"/>
              </a:solidFill>
              <a:latin typeface="Microsoft JhengHei" charset="-120"/>
              <a:ea typeface="Microsoft JhengHei" charset="-120"/>
              <a:cs typeface="Microsoft JhengHei" charset="-120"/>
            </a:endParaRPr>
          </a:p>
        </p:txBody>
      </p:sp>
      <p:sp>
        <p:nvSpPr>
          <p:cNvPr id="13" name="Left Bracket 12"/>
          <p:cNvSpPr/>
          <p:nvPr/>
        </p:nvSpPr>
        <p:spPr>
          <a:xfrm>
            <a:off x="4689456" y="1917343"/>
            <a:ext cx="436729" cy="691350"/>
          </a:xfrm>
          <a:prstGeom prst="leftBracket">
            <a:avLst>
              <a:gd name="adj" fmla="val 467"/>
            </a:avLst>
          </a:prstGeom>
          <a:ln>
            <a:solidFill>
              <a:schemeClr val="tx2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4" name="Straight Connector 13"/>
          <p:cNvCxnSpPr/>
          <p:nvPr/>
        </p:nvCxnSpPr>
        <p:spPr>
          <a:xfrm>
            <a:off x="4370434" y="2263018"/>
            <a:ext cx="31902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425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217</TotalTime>
  <Words>152</Words>
  <Application>Microsoft Macintosh PowerPoint</Application>
  <PresentationFormat>On-screen Show (4:3)</PresentationFormat>
  <Paragraphs>37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Calibri</vt:lpstr>
      <vt:lpstr>Calibri Light</vt:lpstr>
      <vt:lpstr>Microsoft JhengHei</vt:lpstr>
      <vt:lpstr>新細明體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15.0040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Chia-Ying Lee</dc:creator>
  <cp:lastModifiedBy>Chia-Ying Lee</cp:lastModifiedBy>
  <cp:revision>33</cp:revision>
  <dcterms:created xsi:type="dcterms:W3CDTF">2018-02-06T13:52:05Z</dcterms:created>
  <dcterms:modified xsi:type="dcterms:W3CDTF">2018-02-06T17:29:31Z</dcterms:modified>
</cp:coreProperties>
</file>